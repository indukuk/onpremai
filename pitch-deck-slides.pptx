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5" r:id="rId18"/>
    <p:sldId id="273" r:id="rId19"/>
    <p:sldId id="27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2860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D4AA"/>
                </a:solidFill>
              </a:defRPr>
            </a:pPr>
            <a:r>
              <a:t>The Autonomous Compliance Workforce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0"/>
            <a:ext cx="109728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AEAEA"/>
                </a:solidFill>
              </a:defRPr>
            </a:pPr>
            <a:r>
              <a:t>Every User gets an AI agent that does their compliance work for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Agents talk to each other. The system gets smarter daily.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Deploys anywhere — including air-gapped.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AEAEA"/>
                </a:solidFill>
              </a:defRPr>
            </a:pPr>
            <a:r>
              <a:t>Compliance is a $45B+ market built on human Powered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$3-5M/year per mid-size company — still 80% manual labor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Control owners lose 5-10 hrs/month on tasks they don't understand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Compliance managers spend days chasing people, not managing compliance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Most regulated industries (defense, finance, healthcare) are locked out of modern tooling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  — data can't leave their network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34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AEAEA"/>
                </a:solidFill>
              </a:defRPr>
            </a:pPr>
            <a:r>
              <a:t>An autonomous AI workforce that runs your compliance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We don't give companies a better dashboard.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We give every person an AI agent that does their compliance work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for them — sends messages, collects evidence, evaluates controls,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escalates issues, and coordinates with other agents.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The Users never needs to understand how our platform works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What Makes This Possible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AEAEA"/>
                </a:solidFill>
              </a:defRPr>
            </a:pPr>
            <a:r>
              <a:t>Three innovations, integrated from day 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1168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Innovation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What It Means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Shadow AI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Every user gets a personal agent that acts on their behalf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Multi-Agent Coordination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Agents talk to each other to get work done collaboratively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Self-Improving Engine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3-layer deterministic + LLM pipeline that gets smarter daily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Shadow AI — The Core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AEAEA"/>
                </a:solidFill>
              </a:defRPr>
            </a:pPr>
            <a:r>
              <a:t>Every user gets a personal compliance agent. Zero knowledge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r>
              <a:t>Agent → Sarah (Slack): "Hey Sarah — I need a Q1 access review</a:t>
            </a:r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r>
              <a:t>  export from Okta. Want me to ask Mike in IT, or do you have access?"</a:t>
            </a:r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r>
              <a:t>Sarah: "Ask Mike"</a:t>
            </a:r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r>
              <a:t>Agent → Mike's Agent: [coordinates automatically]</a:t>
            </a:r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r>
              <a:t>Mike's Agent → Mike (Teams): "Sarah needs an Okta export.</a:t>
            </a:r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r>
              <a:t>  Takes 2 min — here's how."</a:t>
            </a:r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r>
              <a:t>Mike: pulls the export → Agent uploads → evaluates → done.</a:t>
            </a:r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r>
              <a:t>Sarah never opened the compliance platform. Mike never heard 'SOC 2.'</a:t>
            </a:r>
          </a:p>
          <a:p>
            <a:pPr>
              <a:spcAft>
                <a:spcPts val="800"/>
              </a:spcAft>
              <a:defRPr sz="1500">
                <a:solidFill>
                  <a:srgbClr val="EAEAEA"/>
                </a:solidFill>
              </a:defRPr>
            </a:pPr>
            <a:r>
              <a:t>Total human effort: 2 messages + 2 minutes.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What the Agent Does Behind the Scenes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Translates compliance requirements into plain language actions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Knows who has the data and how to get it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Sends messages, emails, notifications on the user's behalf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Tracks deadlines and follows up automatically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Learns each user's communication style and preferences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Escalates with graduated urgency when things are stuck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Gets better over time — learns what works for each person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CCCCCC"/>
                </a:solidFill>
              </a:defRPr>
            </a:pPr>
            <a:r>
              <a:t>The agent IS the interface. The platform disappears.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Multi-Agent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AEAEA"/>
                </a:solidFill>
              </a:defRPr>
            </a:pPr>
            <a:r>
              <a:t>Agents don't just assist — they form an autonomous workforce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  [CISO Agent] ◄──► [CompMgr Agent] ◄──► [Owner Agents (Sarah, John)]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                           │                         │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                    [Auditor Agent]          [IT/HR/Dev Agents]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  Every arrow = agent-to-agent communication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  Humans just approve and answer the occasional question.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  • 5 agents: basic coordination, some automated evidence flow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  • 20 agents: compliance program runs semi-autonomously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  • 50+ agents: full autonomous workforce, humans manage by exception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The Evaluation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AEAEA"/>
                </a:solidFill>
              </a:defRPr>
            </a:pPr>
            <a:r>
              <a:t>3-Layer Pipeline: Rules → LLM Judgment → Deterministic Score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11680"/>
          <a:ext cx="1088136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What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Reproducibility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Deterministic rules (8 types)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Bounded LLM judgment (ambiguous items only)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Deterministic scoring formula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60-70% of criteria resolve in Layer 1 — zero LLM cost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Layer 2 asks specific questions with rubrics, not 'evaluate this entire control'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Layer 3 always produces the same score given same inputs. Always.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Why This Matters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645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Pure LLM (competitors)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Our 3-Layer Pipeline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Reproducibility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~70-80%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97-99%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Cost per evaluation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$$$ (every criteria hits LLM)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$ (60-70% free)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Explainability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"AI said compliant"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Rule X passed because Y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Speed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Seconds per criterion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Milliseconds (rules)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Audit trail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Black box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Every step traceable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CCCCCC"/>
                </a:solidFill>
              </a:defRPr>
            </a:pPr>
            <a:r>
              <a:t>Auditors can trust it. CFOs can afford it. Regulators can inspect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Self-Improving System — The Observer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AEAEA"/>
                </a:solidFill>
              </a:defRPr>
            </a:pPr>
            <a:r>
              <a:t>Gets smarter every day. No code deploy needed.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01168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Signal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Auto-Fix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55% escalation rate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Model struggling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Route to stronger tier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Confidence trending ↓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Prompt degrading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Rewrite via canary test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Parse failures &gt;15%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Output format drift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Adjust constraints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Score variance &gt;15%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Potential bias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Alert + investigation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After 6 months: measurably better than day 1.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Competitors: identical to day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Graduated Autonomy — Not a Loose Cannon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82880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What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Safety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1 — Auto-apply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Routing changes, thresholds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Confidence ≥ 0.80, 20+ samples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2 — Canary first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Prompt rewrites, model swaps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20% traffic, 30+ samples, 4+ hrs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3 — Human approval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Model removal, policy changes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Notify and wait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3891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Circuit breaker: 3+ rollbacks in 6 hours → all auto-applies stop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The system improves aggressively but fails safely.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AI Governance Built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AEAEA"/>
                </a:solidFill>
              </a:defRPr>
            </a:pPr>
            <a:r>
              <a:t>The system audits itself. For SR 11-7, EU AI Act, and customer trust.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Automated model governance (no human maintenance):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Model inventory — auto-tracked from routing config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Drift detection — KS test on weekly confidence distributions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Bias monitoring — cross-tenant score variance flagging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Performance trending — per model, per task, over time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Decision audit trail — every observer action: what, why, outcome</a:t>
            </a:r>
          </a:p>
          <a:p>
            <a:pPr>
              <a:spcAft>
                <a:spcPts val="800"/>
              </a:spcAft>
              <a:defRPr sz="1800">
                <a:solidFill>
                  <a:srgbClr val="EAEAEA"/>
                </a:solidFill>
              </a:defRPr>
            </a:pPr>
            <a:r>
              <a:t>• Weekly/monthly governance reports — structured for auditors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CCCCCC"/>
                </a:solidFill>
              </a:defRPr>
            </a:pPr>
            <a:r>
              <a:t>Auditor: "Show me your AI governance."  Us: GET /observer/governance-report — generated automatically since deployment.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Deploy Anywhere — First-Class Air-Gapped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8288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Cloud-Only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Air-Gapped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All LLMs deployed on AWS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Local eval, cloud for complex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Everything on-prem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Fastest to start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Best of both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Total data control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Same code. Same Docker images. Different routing.yaml.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Air-gapped deployment: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  tar xzf compliance-v1.5.0-offline.tar.gz &amp;&amp; ./install.sh</a:t>
            </a:r>
          </a:p>
          <a:p>
            <a:pPr>
              <a:spcAft>
                <a:spcPts val="800"/>
              </a:spcAft>
              <a:defRPr sz="1600">
                <a:solidFill>
                  <a:srgbClr val="EAEAEA"/>
                </a:solidFill>
              </a:defRPr>
            </a:pPr>
            <a:r>
              <a:t>  Zero data leaves the building.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On-Premises Infrastructure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AEAEA"/>
                </a:solidFill>
              </a:defRPr>
            </a:pPr>
            <a:r>
              <a:t>Application Tier (CPU-only VMs)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VM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Spec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Est. Cost/mo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App VM 1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8 vCPU, 32 GB RAM, 200 GB SSD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All 8 services (Docker Compose)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~$300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App VM 2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8 vCPU, 32 GB RAM, 200 GB SSD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HA replica / horizontal scale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~$300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DB VM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8 vCPU, 64 GB RAM, 1 TB NVMe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PostgreSQL + pgvector, Redis, MinIO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~$500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29184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AEAEA"/>
                </a:solidFill>
              </a:defRPr>
            </a:pPr>
            <a:r>
              <a:t>LLM Tier (GPU VMs) — separate from app tier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749039"/>
          <a:ext cx="1088136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VM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Spec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Models Hosted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0D4AA"/>
                          </a:solidFill>
                        </a:defRPr>
                      </a:pPr>
                      <a:r>
                        <a:t>Est. Cost/mo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LLM Strong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4x A100 80GB (or 2x H100)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DeepSeek-V3 / Qwen-72B (1M context)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~$8,000-12,000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LLM Mid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1x A100 80GB (or 2x A6000)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Mistral-22B / Qwen-32B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~$2,500-4,000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LLM Fast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1x A10 24GB (or RTX 4090)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Phi-3 / Qwen-7B / Llama-8B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AEAEA"/>
                          </a:solidFill>
                        </a:defRPr>
                      </a:pPr>
                      <a:r>
                        <a:t>~$500-1,000</a:t>
                      </a:r>
                    </a:p>
                  </a:txBody>
                  <a:tcPr>
                    <a:solidFill>
                      <a:srgbClr val="0F34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4864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AEAEA"/>
                </a:solidFill>
              </a:defRPr>
            </a:pPr>
            <a:r>
              <a:t>Why multiple LLMs?</a:t>
            </a:r>
          </a:p>
          <a:p>
            <a:pPr>
              <a:spcAft>
                <a:spcPts val="800"/>
              </a:spcAft>
              <a:defRPr sz="1400">
                <a:solidFill>
                  <a:srgbClr val="EAEAEA"/>
                </a:solidFill>
              </a:defRPr>
            </a:pPr>
            <a:r>
              <a:t>  Strong (1M context): Complex policy analysis, long document reasoning</a:t>
            </a:r>
          </a:p>
          <a:p>
            <a:pPr>
              <a:spcAft>
                <a:spcPts val="800"/>
              </a:spcAft>
              <a:defRPr sz="1400">
                <a:solidFill>
                  <a:srgbClr val="EAEAEA"/>
                </a:solidFill>
              </a:defRPr>
            </a:pPr>
            <a:r>
              <a:t>  Mid: Standard evaluations, evidence review, agent coordination</a:t>
            </a:r>
          </a:p>
          <a:p>
            <a:pPr>
              <a:spcAft>
                <a:spcPts val="800"/>
              </a:spcAft>
              <a:defRPr sz="1400">
                <a:solidFill>
                  <a:srgbClr val="EAEAEA"/>
                </a:solidFill>
              </a:defRPr>
            </a:pPr>
            <a:r>
              <a:t>  Fast: Classification, routing, simple checks (60-70% of all calls)</a:t>
            </a:r>
          </a:p>
          <a:p>
            <a:pPr>
              <a:spcAft>
                <a:spcPts val="800"/>
              </a:spcAft>
              <a:defRPr sz="1400">
                <a:solidFill>
                  <a:srgbClr val="EAEAEA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400">
                <a:solidFill>
                  <a:srgbClr val="EAEAEA"/>
                </a:solidFill>
              </a:defRPr>
            </a:pPr>
            <a:r>
              <a:t>Total on-prem: 5-6 VMs, ~$12K-18K/mo (vs. $50K-100K/yr SaaS + data sovereignty risk)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t>Architecture: AWS Deployment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71600"/>
            <a:ext cx="2743200" cy="22860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46304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IDENTITY &amp; AUTH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Azure AD / Okta (SAML/OIDC)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AWS Cognito (federated)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IAM Roles (S2S)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Secrets Manager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371600"/>
            <a:ext cx="5029200" cy="22860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29000" y="146304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ECS FARGATE (private subnets)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llm-gateway → Bedrock (LLMs)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agent-eval | compliance-assistant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memory-svc | observer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preprocessor | sandbox-svc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1371600"/>
            <a:ext cx="3291840" cy="22860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32520" y="146304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COMMS &amp; CHANNELS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Slack API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Microsoft Teams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Email (SES)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Webhooks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931920"/>
            <a:ext cx="2743200" cy="25603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4023360"/>
            <a:ext cx="2468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CUSTOMER APPS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Jira / ServiceNow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Splunk / Datadog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Workday HCM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Salesforce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931920"/>
            <a:ext cx="5029200" cy="25603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402336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MANAGED SERVICES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RDS PostgreSQL + pgvector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S3 (evidence artifacts)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ElastiCache Redis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Cloud Map (discovery)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VPC + ALB + PrivateLink + VPN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Bedrock LLM and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3931920"/>
            <a:ext cx="3291840" cy="25603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32520" y="4023360"/>
            <a:ext cx="3017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FILE STORAGE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SharePoint Online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Google Drive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Box / Dropbox</a:t>
            </a:r>
          </a:p>
          <a:p>
            <a:pPr>
              <a:spcBef>
                <a:spcPts val="200"/>
              </a:spcBef>
              <a:defRPr sz="1100">
                <a:solidFill>
                  <a:srgbClr val="EAEAEA"/>
                </a:solidFill>
              </a:defRPr>
            </a:pPr>
            <a:r>
              <a:t>Confluence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94AEAF-32ED-21B2-E4D8-472DBBE5B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66F37E-EDCB-6CF3-ABD3-A72E4B5ECCAC}"/>
              </a:ext>
            </a:extLst>
          </p:cNvPr>
          <p:cNvSpPr txBox="1"/>
          <p:nvPr/>
        </p:nvSpPr>
        <p:spPr>
          <a:xfrm>
            <a:off x="640080" y="457200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1">
                <a:solidFill>
                  <a:srgbClr val="00D4AA"/>
                </a:solidFill>
              </a:defRPr>
            </a:pPr>
            <a:r>
              <a:rPr lang="en-US" sz="3600" b="1" dirty="0">
                <a:solidFill>
                  <a:srgbClr val="00D4AA"/>
                </a:solidFill>
                <a:latin typeface="Calibri"/>
              </a:rPr>
              <a:t>Policy RAG</a:t>
            </a:r>
            <a:endParaRPr kumimoji="0" sz="3600" b="1" i="0" u="none" strike="noStrike" kern="1200" cap="none" spc="0" normalizeH="0" baseline="0" noProof="0" dirty="0">
              <a:ln>
                <a:noFill/>
              </a:ln>
              <a:solidFill>
                <a:srgbClr val="00D4A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75107C-1D1E-5014-89A0-43756BE15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585" y="2435843"/>
            <a:ext cx="11586830" cy="1986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71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AB7264-B3D6-0BF7-CAA7-77C06C3AA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75E180-F0BC-4AA9-BDD5-7D5F55875762}"/>
              </a:ext>
            </a:extLst>
          </p:cNvPr>
          <p:cNvSpPr txBox="1"/>
          <p:nvPr/>
        </p:nvSpPr>
        <p:spPr>
          <a:xfrm>
            <a:off x="640080" y="457200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1">
                <a:solidFill>
                  <a:srgbClr val="00D4AA"/>
                </a:solidFill>
              </a:defRPr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Policy Evaluation</a:t>
            </a:r>
            <a:endParaRPr kumimoji="0" sz="3600" b="1" i="0" u="none" strike="noStrike" kern="1200" cap="none" spc="0" normalizeH="0" baseline="0" noProof="0" dirty="0">
              <a:ln>
                <a:noFill/>
              </a:ln>
              <a:solidFill>
                <a:srgbClr val="00D4A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B0C30E-8580-2199-F01D-5FDD4F36A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95790"/>
            <a:ext cx="10411717" cy="283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7184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BF646-724E-29DE-D1C0-1BC1E736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042289-4741-DD30-6C61-1A1DBC18A5B3}"/>
              </a:ext>
            </a:extLst>
          </p:cNvPr>
          <p:cNvSpPr txBox="1"/>
          <p:nvPr/>
        </p:nvSpPr>
        <p:spPr>
          <a:xfrm>
            <a:off x="640080" y="457200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1">
                <a:solidFill>
                  <a:srgbClr val="00D4AA"/>
                </a:solidFill>
              </a:defRPr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Evidence Evaluation</a:t>
            </a:r>
            <a:endParaRPr kumimoji="0" sz="3600" b="1" i="0" u="none" strike="noStrike" kern="1200" cap="none" spc="0" normalizeH="0" baseline="0" noProof="0" dirty="0">
              <a:ln>
                <a:noFill/>
              </a:ln>
              <a:solidFill>
                <a:srgbClr val="00D4A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1A44BC-9BDA-CF25-8298-950578E96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461" y="2051786"/>
            <a:ext cx="10519355" cy="3126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626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4AA"/>
                </a:solidFill>
              </a:defRPr>
            </a:pPr>
            <a:r>
              <a:rPr lang="en-US" dirty="0"/>
              <a:t>Agent to Agent Communication</a:t>
            </a:r>
            <a:endParaRPr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A736638-BA6F-F3F9-2C63-9DF8F8E13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020" y="1467044"/>
            <a:ext cx="11427960" cy="49337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1364</Words>
  <Application>Microsoft Macintosh PowerPoint</Application>
  <PresentationFormat>Widescreen</PresentationFormat>
  <Paragraphs>249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Indukuri, Krishna</cp:lastModifiedBy>
  <cp:revision>2</cp:revision>
  <dcterms:created xsi:type="dcterms:W3CDTF">2013-01-27T09:14:16Z</dcterms:created>
  <dcterms:modified xsi:type="dcterms:W3CDTF">2026-06-11T16:37:42Z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2026-06-11T16:37:42Z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978c2ada-504d-44e3-9fbf-5f13e0c56cfc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